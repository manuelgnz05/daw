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theme/_rels/theme3.xml.rels" ContentType="application/vnd.openxmlformats-package.relationships+xml"/>
  <Override PartName="/ppt/theme/_rels/theme4.xml.rels" ContentType="application/vnd.openxmlformats-package.relationships+xml"/>
  <Override PartName="/ppt/theme/_rels/theme5.xml.rels" ContentType="application/vnd.openxmlformats-package.relationships+xml"/>
  <Override PartName="/ppt/theme/_rels/theme6.xml.rels" ContentType="application/vnd.openxmlformats-package.relationships+xml"/>
  <Override PartName="/ppt/theme/_rels/theme7.xml.rels" ContentType="application/vnd.openxmlformats-package.relationships+xml"/>
  <Override PartName="/ppt/theme/_rels/theme8.xml.rels" ContentType="application/vnd.openxmlformats-package.relationships+xml"/>
  <Override PartName="/ppt/theme/_rels/theme9.xml.rels" ContentType="application/vnd.openxmlformats-package.relationships+xml"/>
  <Override PartName="/ppt/theme/_rels/theme10.xml.rels" ContentType="application/vnd.openxmlformats-package.relationships+xml"/>
  <Override PartName="/ppt/theme/_rels/theme11.xml.rels" ContentType="application/vnd.openxmlformats-package.relationships+xml"/>
  <Override PartName="/ppt/theme/_rels/theme12.xml.rels" ContentType="application/vnd.openxmlformats-package.relationships+xml"/>
  <Override PartName="/ppt/theme/_rels/theme13.xml.rels" ContentType="application/vnd.openxmlformats-package.relationships+xml"/>
  <Override PartName="/ppt/theme/_rels/theme14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6" r:id="rId9"/>
    <p:sldMasterId id="2147483668" r:id="rId10"/>
    <p:sldMasterId id="2147483670" r:id="rId11"/>
    <p:sldMasterId id="2147483672" r:id="rId12"/>
    <p:sldMasterId id="2147483674" r:id="rId13"/>
    <p:sldMasterId id="2147483676" r:id="rId14"/>
    <p:sldMasterId id="2147483678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D7B038-7122-4602-9C6A-CEA046FF31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FD4F3E-78FF-48DE-9F30-5205401FEC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99EE99C-3D06-4A64-9A84-5D2C84355F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E877153-5024-4268-AFAA-0F34932C2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76AF201-BFA7-42E9-88F7-B83CB6663F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7FC0E2-FDF9-4AC2-BE82-751D9AFF8F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75C290B-D6E3-4E96-9E15-A0F62158C0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BB1805E-55DB-4FC1-9700-AA8D9035E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3374437-4F5A-4670-915F-A593AF4291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62F8C8F-B27F-4BAD-AD95-712E0BD6E8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7F24EB7-61F4-4A88-A84D-68C566FB1D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510943F-D61D-4C91-A5CB-8358184242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D4D413-9B6D-48C0-8258-BB8FE258B6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598595-65F9-41E5-A841-60A98D48E8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FD8B888-AD2B-43F0-A227-91B55FB0F0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30DE681-08E1-4703-8B9A-466760CA9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B84FD488-CC59-42EB-B048-B9F4C7C920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883A0130-6BCB-4BDF-A744-BE0A885ADC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6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810000" y="1449000"/>
            <a:ext cx="10571760" cy="29707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54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5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A03ACA-667B-4336-B245-1E83F5778769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Century Gothic"/>
              </a:rPr>
              <a:t>Click to edit the outline text format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Century Gothic"/>
              </a:rPr>
              <a:t>Second Outline Level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chemeClr val="lt1"/>
                </a:solidFill>
                <a:uFillTx/>
                <a:latin typeface="Century Gothic"/>
              </a:rPr>
              <a:t>Third Outline Level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lt1"/>
                </a:solidFill>
                <a:uFillTx/>
                <a:latin typeface="Century Gothic"/>
              </a:rPr>
              <a:t>Fourth Outline Level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Century Gothic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Century Gothic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Century Gothic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0960" cy="56628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s-ES" sz="24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2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800240"/>
          </a:xfrm>
          <a:prstGeom prst="rect">
            <a:avLst/>
          </a:prstGeom>
          <a:noFill/>
          <a:ln cap="rnd" w="9360">
            <a:solidFill>
              <a:schemeClr val="dk2"/>
            </a:solidFill>
            <a:round/>
          </a:ln>
        </p:spPr>
        <p:txBody>
          <a:bodyPr numCol="1" spcCol="0"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lt1"/>
                </a:solidFill>
                <a:uFillTx/>
                <a:latin typeface="Century Gothic"/>
              </a:rPr>
              <a:t>Haga clic en el icono para agregar una imagen</a:t>
            </a:r>
            <a:endParaRPr b="0" lang="en-US" sz="16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10000" y="5367240"/>
            <a:ext cx="10560960" cy="493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35999E-4E7C-44C8-A97C-9CA4D44A22D7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/>
          <p:cNvSpPr/>
          <p:nvPr/>
        </p:nvSpPr>
        <p:spPr>
          <a:xfrm>
            <a:off x="631800" y="1081440"/>
            <a:ext cx="6332040" cy="3238920"/>
          </a:xfrm>
          <a:custGeom>
            <a:avLst/>
            <a:gdLst>
              <a:gd name="textAreaLeft" fmla="*/ 0 w 6332040"/>
              <a:gd name="textAreaRight" fmla="*/ 6332400 w 6332040"/>
              <a:gd name="textAreaTop" fmla="*/ 0 h 3238920"/>
              <a:gd name="textAreaBottom" fmla="*/ 3239280 h 3238920"/>
            </a:gdLst>
            <a:ahLst/>
            <a:rect l="textAreaLeft" t="textAreaTop" r="textAreaRight" b="textAreaBottom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51040" y="1238400"/>
            <a:ext cx="5893560" cy="26456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2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53200" y="4443840"/>
            <a:ext cx="5891400" cy="7128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7574760" y="1081440"/>
            <a:ext cx="3809520" cy="4075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7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189314-FAC2-4312-A5FD-03D15930BFD0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/>
          <p:cNvSpPr/>
          <p:nvPr/>
        </p:nvSpPr>
        <p:spPr>
          <a:xfrm>
            <a:off x="1140840" y="2286720"/>
            <a:ext cx="4894920" cy="2503440"/>
          </a:xfrm>
          <a:custGeom>
            <a:avLst/>
            <a:gdLst>
              <a:gd name="textAreaLeft" fmla="*/ 0 w 4894920"/>
              <a:gd name="textAreaRight" fmla="*/ 4895280 w 4894920"/>
              <a:gd name="textAreaTop" fmla="*/ 0 h 2503440"/>
              <a:gd name="textAreaBottom" fmla="*/ 2503800 h 2503440"/>
            </a:gdLst>
            <a:ahLst/>
            <a:rect l="textAreaLeft" t="textAreaTop" r="textAreaRight" b="textAreaBottom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357200" y="2436120"/>
            <a:ext cx="4382280" cy="20073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32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3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156000" y="2286000"/>
            <a:ext cx="4879800" cy="22950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FF1A35-818D-42E4-953C-96D62776D76D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10000" y="2184480"/>
            <a:ext cx="10562760" cy="36741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 vert="eaVer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FB344D-D156-4BE1-BD96-B95041BF79A1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6"/>
          <p:cNvSpPr/>
          <p:nvPr/>
        </p:nvSpPr>
        <p:spPr>
          <a:xfrm>
            <a:off x="7669800" y="446040"/>
            <a:ext cx="4521960" cy="5414760"/>
          </a:xfrm>
          <a:custGeom>
            <a:avLst/>
            <a:gdLst>
              <a:gd name="textAreaLeft" fmla="*/ 0 w 4521960"/>
              <a:gd name="textAreaRight" fmla="*/ 4522320 w 4521960"/>
              <a:gd name="textAreaTop" fmla="*/ 0 h 5414760"/>
              <a:gd name="textAreaBottom" fmla="*/ 5415120 h 5414760"/>
            </a:gdLst>
            <a:ahLst/>
            <a:rect l="textAreaLeft" t="textAreaTop" r="textAreaRight" b="textAreaBottom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83520" y="586080"/>
            <a:ext cx="2494440" cy="51343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10000" y="446040"/>
            <a:ext cx="6611040" cy="54147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 vert="eaVer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6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7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8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054407-6FCF-4749-8181-DBF85AB64B86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9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0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1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00F0C-E0A4-4E80-BE0C-3213186DD68D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3"/>
    <p:sldLayoutId id="2147483662" r:id="rId4"/>
    <p:sldLayoutId id="2147483663" r:id="rId5"/>
    <p:sldLayoutId id="2147483664" r:id="rId6"/>
    <p:sldLayoutId id="2147483665" r:id="rId7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7"/>
          <p:cNvSpPr/>
          <p:nvPr/>
        </p:nvSpPr>
        <p:spPr>
          <a:xfrm>
            <a:off x="0" y="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10000" y="2951280"/>
            <a:ext cx="10560960" cy="14684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1" lang="es-ES" sz="48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10000" y="5281200"/>
            <a:ext cx="10560960" cy="4334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algn="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2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 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3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4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CC1A56-620B-4097-AD43-F14ED6161B3B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1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18640" y="2222280"/>
            <a:ext cx="5185440" cy="363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187320" y="2222280"/>
            <a:ext cx="5194080" cy="363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5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6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27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24EC0E-16E5-4983-99EA-549A9944F220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14680" y="2174760"/>
            <a:ext cx="5189400" cy="5760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14680" y="2751120"/>
            <a:ext cx="5189400" cy="310968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187320" y="2174760"/>
            <a:ext cx="5194080" cy="5760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187320" y="2751120"/>
            <a:ext cx="5194080" cy="310968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28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 type="ftr" idx="29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 type="sldNum" idx="30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9F1AE7-6BB3-416B-A0BC-2C6618862975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4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4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dt" idx="31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32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33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B08A74-E35F-4152-894A-2669B59AA279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dt" idx="34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35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36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5F206E-50D8-42F6-8CD0-D882856FA10C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6"/>
          <p:cNvSpPr/>
          <p:nvPr/>
        </p:nvSpPr>
        <p:spPr>
          <a:xfrm>
            <a:off x="1073160" y="446040"/>
            <a:ext cx="3547080" cy="1814400"/>
          </a:xfrm>
          <a:custGeom>
            <a:avLst/>
            <a:gdLst>
              <a:gd name="textAreaLeft" fmla="*/ 0 w 3547080"/>
              <a:gd name="textAreaRight" fmla="*/ 3547440 w 3547080"/>
              <a:gd name="textAreaTop" fmla="*/ 0 h 1814400"/>
              <a:gd name="textAreaBottom" fmla="*/ 1814760 h 1814400"/>
            </a:gdLst>
            <a:ahLst/>
            <a:rect l="textAreaLeft" t="textAreaTop" r="textAreaRight" b="textAreaBottom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73160" y="446040"/>
            <a:ext cx="3547080" cy="1618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s-ES" sz="20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20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855680" y="446040"/>
            <a:ext cx="6252120" cy="54147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c6bb"/>
              </a:buClr>
              <a:buFont typeface="Wingdings 2" charset="2"/>
              <a:buChar char=""/>
            </a:pPr>
            <a:r>
              <a:rPr b="0" lang="es-ES" sz="18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1073160" y="2260800"/>
            <a:ext cx="3547080" cy="36000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37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38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9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216F06-4E22-4FCB-877F-A4FDA4F3863C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14680" y="727560"/>
            <a:ext cx="4852800" cy="16167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s-ES" sz="2400" strike="noStrike" u="none">
                <a:solidFill>
                  <a:srgbClr val="fefefe"/>
                </a:solidFill>
                <a:uFillTx/>
                <a:latin typeface="Century Gothic"/>
              </a:rPr>
              <a:t>Haga clic para modificar el estilo de título del patrón</a:t>
            </a:r>
            <a:endParaRPr b="0" lang="en-US" sz="2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8040" y="0"/>
            <a:ext cx="6093360" cy="685764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numCol="1" spcCol="0"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1400" strike="noStrike" u="none">
                <a:solidFill>
                  <a:schemeClr val="lt1"/>
                </a:solidFill>
                <a:uFillTx/>
                <a:latin typeface="Century Gothic"/>
              </a:rPr>
              <a:t>Haga clic en el icono para agregar una imagen</a:t>
            </a:r>
            <a:endParaRPr b="0" lang="en-US" sz="1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814680" y="2344680"/>
            <a:ext cx="4852800" cy="35161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Haga clic para modificar los estilos de texto del patrón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Segundo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Tercer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Cuarto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lt1"/>
                </a:solidFill>
                <a:uFillTx/>
                <a:latin typeface="Century Gothic"/>
              </a:rPr>
              <a:t>Quinto nivel</a:t>
            </a:r>
            <a:endParaRPr b="0" lang="en-US" sz="1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40"/>
          </p:nvPr>
        </p:nvSpPr>
        <p:spPr>
          <a:xfrm>
            <a:off x="3885840" y="6041520"/>
            <a:ext cx="97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l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lt1"/>
                </a:solidFill>
                <a:uFillTx/>
                <a:latin typeface="Century Gothic"/>
              </a:rPr>
              <a:t>&lt;date/time&gt;</a:t>
            </a:r>
            <a:endParaRPr b="0" lang="es-ES" sz="9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41"/>
          </p:nvPr>
        </p:nvSpPr>
        <p:spPr>
          <a:xfrm>
            <a:off x="590400" y="6041520"/>
            <a:ext cx="32950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42"/>
          </p:nvPr>
        </p:nvSpPr>
        <p:spPr>
          <a:xfrm>
            <a:off x="48625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1080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000" strike="noStrike" u="none">
                <a:solidFill>
                  <a:schemeClr val="accent1"/>
                </a:solidFill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C46636-B26F-4E90-9B5F-AC313CD17751}" type="slidenum">
              <a:rPr b="0" lang="en-US" sz="2000" strike="noStrike" u="none">
                <a:solidFill>
                  <a:schemeClr val="accent1"/>
                </a:solidFill>
                <a:uFillTx/>
                <a:latin typeface="Century Gothic"/>
              </a:rPr>
              <a:t>&lt;number&gt;</a:t>
            </a:fld>
            <a:endParaRPr b="0" lang="es-ES" sz="2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n 6" descr=""/>
          <p:cNvPicPr/>
          <p:nvPr/>
        </p:nvPicPr>
        <p:blipFill>
          <a:blip r:embed="rId1"/>
          <a:srcRect l="17017" t="0" r="9159" b="0"/>
          <a:stretch/>
        </p:blipFill>
        <p:spPr>
          <a:xfrm>
            <a:off x="5782680" y="0"/>
            <a:ext cx="6409080" cy="4883040"/>
          </a:xfrm>
          <a:prstGeom prst="rect">
            <a:avLst/>
          </a:prstGeom>
          <a:ln w="0">
            <a:noFill/>
          </a:ln>
        </p:spPr>
      </p:pic>
      <p:sp>
        <p:nvSpPr>
          <p:cNvPr id="97" name="Imagen 3"/>
          <p:cNvSpPr/>
          <p:nvPr/>
        </p:nvSpPr>
        <p:spPr>
          <a:xfrm>
            <a:off x="0" y="0"/>
            <a:ext cx="6094080" cy="4883040"/>
          </a:xfrm>
          <a:custGeom>
            <a:avLst/>
            <a:gdLst>
              <a:gd name="textAreaLeft" fmla="*/ 0 w 6094080"/>
              <a:gd name="textAreaRight" fmla="*/ 6094440 w 6094080"/>
              <a:gd name="textAreaTop" fmla="*/ 0 h 4883040"/>
              <a:gd name="textAreaBottom" fmla="*/ 4883400 h 4883040"/>
            </a:gdLst>
            <a:ahLst/>
            <a:rect l="textAreaLeft" t="textAreaTop" r="textAreaRight" b="textAreaBottom"/>
            <a:pathLst>
              <a:path w="6094411" h="4883281">
                <a:moveTo>
                  <a:pt x="0" y="0"/>
                </a:moveTo>
                <a:lnTo>
                  <a:pt x="6094411" y="0"/>
                </a:lnTo>
                <a:lnTo>
                  <a:pt x="6094411" y="2014600"/>
                </a:lnTo>
                <a:lnTo>
                  <a:pt x="5846149" y="2373182"/>
                </a:lnTo>
                <a:lnTo>
                  <a:pt x="5843219" y="2381649"/>
                </a:lnTo>
                <a:lnTo>
                  <a:pt x="5838822" y="2394349"/>
                </a:lnTo>
                <a:lnTo>
                  <a:pt x="5834426" y="2407048"/>
                </a:lnTo>
                <a:lnTo>
                  <a:pt x="5834426" y="2417632"/>
                </a:lnTo>
                <a:lnTo>
                  <a:pt x="5834426" y="2430332"/>
                </a:lnTo>
                <a:lnTo>
                  <a:pt x="5838822" y="2440915"/>
                </a:lnTo>
                <a:lnTo>
                  <a:pt x="5843219" y="2453615"/>
                </a:lnTo>
                <a:lnTo>
                  <a:pt x="5846149" y="2462082"/>
                </a:lnTo>
                <a:lnTo>
                  <a:pt x="6094411" y="2820664"/>
                </a:lnTo>
                <a:lnTo>
                  <a:pt x="6094411" y="4883281"/>
                </a:lnTo>
                <a:lnTo>
                  <a:pt x="0" y="488328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47520"/>
            <a:ext cx="12191760" cy="2332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332440"/>
              <a:gd name="textAreaBottom" fmla="*/ 2332800 h 2332440"/>
            </a:gdLst>
            <a:ahLst/>
            <a:rect l="textAreaLeft" t="textAreaTop" r="textAreaRight" b="textAreaBottom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12880" y="4895640"/>
            <a:ext cx="10571760" cy="7790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GB" sz="3700" strike="noStrike" u="none">
                <a:solidFill>
                  <a:srgbClr val="fefefe"/>
                </a:solidFill>
                <a:uFillTx/>
                <a:latin typeface="Century Gothic"/>
              </a:rPr>
              <a:t>Java: estructuras de decision</a:t>
            </a:r>
            <a:endParaRPr b="0" lang="en-US" sz="37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810000" y="5594040"/>
            <a:ext cx="10571760" cy="57276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9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lt1"/>
                </a:solidFill>
                <a:uFillTx/>
                <a:latin typeface="Century Gothic"/>
              </a:rPr>
              <a:t>PROGRAMACIÓN, 1º DAM</a:t>
            </a:r>
            <a:endParaRPr b="0" lang="es-E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9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lt1"/>
                </a:solidFill>
                <a:uFillTx/>
                <a:latin typeface="Century Gothic"/>
              </a:rPr>
              <a:t>Dr. Jorge Juan Muñoz Morera </a:t>
            </a:r>
            <a:endParaRPr b="0" lang="es-E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2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36800" cy="6857640"/>
          </a:xfrm>
          <a:custGeom>
            <a:avLst/>
            <a:gdLst>
              <a:gd name="textAreaLeft" fmla="*/ 0 w 4636800"/>
              <a:gd name="textAreaRight" fmla="*/ 4637160 w 46368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11840" y="1687320"/>
            <a:ext cx="4052160" cy="39776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GB" sz="4400" strike="noStrike" u="none">
                <a:solidFill>
                  <a:srgbClr val="fefefe"/>
                </a:solidFill>
                <a:uFillTx/>
                <a:latin typeface="Century Gothic"/>
              </a:rPr>
              <a:t>Estructuras condicionales</a:t>
            </a:r>
            <a:br>
              <a:rPr sz="4400"/>
            </a:br>
            <a:r>
              <a:rPr b="1" lang="en-GB" sz="4400" strike="noStrike" u="none">
                <a:solidFill>
                  <a:schemeClr val="dk1"/>
                </a:solidFill>
                <a:uFillTx/>
                <a:latin typeface="Century Gothic"/>
              </a:rPr>
              <a:t>if-else</a:t>
            </a:r>
            <a:endParaRPr b="0" lang="en-US" sz="4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04" name="Imagen 2" descr=""/>
          <p:cNvPicPr/>
          <p:nvPr/>
        </p:nvPicPr>
        <p:blipFill>
          <a:blip r:embed="rId2"/>
          <a:stretch/>
        </p:blipFill>
        <p:spPr>
          <a:xfrm>
            <a:off x="6522120" y="1434600"/>
            <a:ext cx="3784320" cy="37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6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36800" cy="6857640"/>
          </a:xfrm>
          <a:custGeom>
            <a:avLst/>
            <a:gdLst>
              <a:gd name="textAreaLeft" fmla="*/ 0 w 4636800"/>
              <a:gd name="textAreaRight" fmla="*/ 4637160 w 46368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11840" y="1687320"/>
            <a:ext cx="4052160" cy="39776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GB" sz="4400" strike="noStrike" u="none">
                <a:solidFill>
                  <a:srgbClr val="fefefe"/>
                </a:solidFill>
                <a:uFillTx/>
                <a:latin typeface="Century Gothic"/>
              </a:rPr>
              <a:t>Estructuras condicionales</a:t>
            </a:r>
            <a:br>
              <a:rPr sz="4400"/>
            </a:br>
            <a:r>
              <a:rPr b="1" lang="en-GB" sz="4400" strike="noStrike" u="none">
                <a:solidFill>
                  <a:schemeClr val="dk1"/>
                </a:solidFill>
                <a:uFillTx/>
                <a:latin typeface="Century Gothic"/>
              </a:rPr>
              <a:t>if-else-if</a:t>
            </a:r>
            <a:endParaRPr b="0" lang="en-US" sz="4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08" name="Imagen 3" descr=""/>
          <p:cNvPicPr/>
          <p:nvPr/>
        </p:nvPicPr>
        <p:blipFill>
          <a:blip r:embed="rId2"/>
          <a:stretch/>
        </p:blipFill>
        <p:spPr>
          <a:xfrm>
            <a:off x="6522120" y="1920600"/>
            <a:ext cx="3784320" cy="2285640"/>
          </a:xfrm>
          <a:prstGeom prst="rect">
            <a:avLst/>
          </a:prstGeom>
          <a:ln w="0">
            <a:noFill/>
          </a:ln>
        </p:spPr>
      </p:pic>
      <p:sp>
        <p:nvSpPr>
          <p:cNvPr id="109" name="CuadroTexto 5"/>
          <p:cNvSpPr/>
          <p:nvPr/>
        </p:nvSpPr>
        <p:spPr>
          <a:xfrm>
            <a:off x="6724080" y="4562640"/>
            <a:ext cx="3441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lt1"/>
                </a:solidFill>
                <a:uFillTx/>
                <a:latin typeface="Century Gothic"/>
              </a:rPr>
              <a:t>Infinitos else-if</a:t>
            </a:r>
            <a:endParaRPr b="0" lang="es-E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lt1"/>
                </a:solidFill>
                <a:uFillTx/>
                <a:latin typeface="Century Gothic"/>
              </a:rPr>
              <a:t>Último else opcional</a:t>
            </a:r>
            <a:endParaRPr b="0" lang="es-E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11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36800" cy="6857640"/>
          </a:xfrm>
          <a:custGeom>
            <a:avLst/>
            <a:gdLst>
              <a:gd name="textAreaLeft" fmla="*/ 0 w 4636800"/>
              <a:gd name="textAreaRight" fmla="*/ 4637160 w 46368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11840" y="1687320"/>
            <a:ext cx="4052160" cy="39776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GB" sz="4400" strike="noStrike" u="none">
                <a:solidFill>
                  <a:srgbClr val="fefefe"/>
                </a:solidFill>
                <a:uFillTx/>
                <a:latin typeface="Century Gothic"/>
              </a:rPr>
              <a:t>Estructuras condicionales</a:t>
            </a:r>
            <a:br>
              <a:rPr sz="4400"/>
            </a:br>
            <a:r>
              <a:rPr b="1" lang="en-GB" sz="4400" strike="noStrike" u="none">
                <a:solidFill>
                  <a:schemeClr val="dk1"/>
                </a:solidFill>
                <a:uFillTx/>
                <a:latin typeface="Century Gothic"/>
              </a:rPr>
              <a:t>if-else-if</a:t>
            </a:r>
            <a:endParaRPr b="0" lang="en-US" sz="4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13" name="Imagen 3" descr=""/>
          <p:cNvPicPr/>
          <p:nvPr/>
        </p:nvPicPr>
        <p:blipFill>
          <a:blip r:embed="rId2"/>
          <a:stretch/>
        </p:blipFill>
        <p:spPr>
          <a:xfrm>
            <a:off x="6398640" y="181080"/>
            <a:ext cx="3784320" cy="2285640"/>
          </a:xfrm>
          <a:prstGeom prst="rect">
            <a:avLst/>
          </a:prstGeom>
          <a:ln w="0">
            <a:noFill/>
          </a:ln>
        </p:spPr>
      </p:pic>
      <p:sp>
        <p:nvSpPr>
          <p:cNvPr id="114" name="CuadroTexto 5"/>
          <p:cNvSpPr/>
          <p:nvPr/>
        </p:nvSpPr>
        <p:spPr>
          <a:xfrm>
            <a:off x="7427880" y="2784600"/>
            <a:ext cx="1811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GB" sz="2400" strike="noStrike" u="none">
                <a:solidFill>
                  <a:schemeClr val="lt1"/>
                </a:solidFill>
                <a:uFillTx/>
                <a:latin typeface="Century Gothic"/>
              </a:rPr>
              <a:t>Equivale a </a:t>
            </a:r>
            <a:endParaRPr b="0" lang="es-E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5" name="Imagen 2" descr=""/>
          <p:cNvPicPr/>
          <p:nvPr/>
        </p:nvPicPr>
        <p:blipFill>
          <a:blip r:embed="rId3"/>
          <a:stretch/>
        </p:blipFill>
        <p:spPr>
          <a:xfrm>
            <a:off x="6507360" y="3565440"/>
            <a:ext cx="3593880" cy="311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17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36800" cy="6857640"/>
          </a:xfrm>
          <a:custGeom>
            <a:avLst/>
            <a:gdLst>
              <a:gd name="textAreaLeft" fmla="*/ 0 w 4636800"/>
              <a:gd name="textAreaRight" fmla="*/ 4637160 w 46368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11840" y="1687320"/>
            <a:ext cx="4052160" cy="397764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GB" sz="4400" strike="noStrike" u="none">
                <a:solidFill>
                  <a:srgbClr val="fefefe"/>
                </a:solidFill>
                <a:uFillTx/>
                <a:latin typeface="Century Gothic"/>
              </a:rPr>
              <a:t>Estructuras condicionales</a:t>
            </a:r>
            <a:br>
              <a:rPr sz="4400"/>
            </a:br>
            <a:r>
              <a:rPr b="1" lang="en-GB" sz="4400" strike="noStrike" u="none">
                <a:solidFill>
                  <a:schemeClr val="dk1"/>
                </a:solidFill>
                <a:uFillTx/>
                <a:latin typeface="Century Gothic"/>
              </a:rPr>
              <a:t>switch-case</a:t>
            </a:r>
            <a:endParaRPr b="0" lang="en-US" sz="4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19" name="Imagen 6" descr=""/>
          <p:cNvPicPr/>
          <p:nvPr/>
        </p:nvPicPr>
        <p:blipFill>
          <a:blip r:embed="rId2"/>
          <a:stretch/>
        </p:blipFill>
        <p:spPr>
          <a:xfrm>
            <a:off x="4757760" y="137520"/>
            <a:ext cx="7360560" cy="402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40040"/>
            <a:ext cx="12191760" cy="3117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117600"/>
              <a:gd name="textAreaBottom" fmla="*/ 3117960 h 3117600"/>
            </a:gdLst>
            <a:ahLst/>
            <a:rect l="textAreaLeft" t="textAreaTop" r="textAreaRight" b="textAreaBottom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10000" y="4080240"/>
            <a:ext cx="10571760" cy="138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 fontScale="85000" lnSpcReduction="19999"/>
          </a:bodyPr>
          <a:p>
            <a:pPr indent="0" algn="ctr" defTabSz="457200">
              <a:lnSpc>
                <a:spcPct val="90000"/>
              </a:lnSpc>
              <a:buNone/>
            </a:pP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Estructuras repetitivas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while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(y salida forzosa break)</a:t>
            </a:r>
            <a:endParaRPr b="0" lang="en-US" sz="46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23" name="Rounded 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0400" y="643320"/>
            <a:ext cx="7757280" cy="2817000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 cap="rnd">
            <a:solidFill>
              <a:srgbClr val="00c6bb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24" name="Imagen 2" descr=""/>
          <p:cNvPicPr/>
          <p:nvPr/>
        </p:nvPicPr>
        <p:blipFill>
          <a:blip r:embed="rId2"/>
          <a:stretch/>
        </p:blipFill>
        <p:spPr>
          <a:xfrm>
            <a:off x="2522160" y="884880"/>
            <a:ext cx="7138440" cy="231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40040"/>
            <a:ext cx="12191760" cy="3117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117600"/>
              <a:gd name="textAreaBottom" fmla="*/ 3117960 h 3117600"/>
            </a:gdLst>
            <a:ahLst/>
            <a:rect l="textAreaLeft" t="textAreaTop" r="textAreaRight" b="textAreaBottom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10000" y="4080240"/>
            <a:ext cx="10571760" cy="138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 fontScale="85000" lnSpcReduction="19999"/>
          </a:bodyPr>
          <a:p>
            <a:pPr indent="0" algn="ctr" defTabSz="457200">
              <a:lnSpc>
                <a:spcPct val="90000"/>
              </a:lnSpc>
              <a:buNone/>
            </a:pP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Estructuras repetitivas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for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(y salida forzosa break)</a:t>
            </a:r>
            <a:endParaRPr b="0" lang="en-US" sz="46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28" name="Rounded 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0400" y="643320"/>
            <a:ext cx="7757280" cy="2817000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 cap="rnd">
            <a:solidFill>
              <a:srgbClr val="00c6bb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29" name="Imagen 6" descr=""/>
          <p:cNvPicPr/>
          <p:nvPr/>
        </p:nvPicPr>
        <p:blipFill>
          <a:blip r:embed="rId2"/>
          <a:stretch/>
        </p:blipFill>
        <p:spPr>
          <a:xfrm>
            <a:off x="3897360" y="833040"/>
            <a:ext cx="4384080" cy="243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40040"/>
            <a:ext cx="12191760" cy="3117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117600"/>
              <a:gd name="textAreaBottom" fmla="*/ 3117960 h 3117600"/>
            </a:gdLst>
            <a:ahLst/>
            <a:rect l="textAreaLeft" t="textAreaTop" r="textAreaRight" b="textAreaBottom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10000" y="4080240"/>
            <a:ext cx="10571760" cy="138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 fontScale="85000" lnSpcReduction="19999"/>
          </a:bodyPr>
          <a:p>
            <a:pPr indent="0" algn="ctr" defTabSz="457200">
              <a:lnSpc>
                <a:spcPct val="90000"/>
              </a:lnSpc>
              <a:buNone/>
            </a:pP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Estructuras repetitivas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do-while</a:t>
            </a:r>
            <a:br>
              <a:rPr sz="4600"/>
            </a:br>
            <a:r>
              <a:rPr b="1" lang="en-US" sz="4600" strike="noStrike" u="none">
                <a:solidFill>
                  <a:srgbClr val="ffffff"/>
                </a:solidFill>
                <a:uFillTx/>
                <a:latin typeface="Century Gothic"/>
              </a:rPr>
              <a:t>(y salida forzosa break)</a:t>
            </a:r>
            <a:endParaRPr b="0" lang="en-US" sz="46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33" name="Rounded 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0400" y="643320"/>
            <a:ext cx="7757280" cy="2817000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 cap="rnd">
            <a:solidFill>
              <a:srgbClr val="00c6bb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34" name="Imagen 2" descr=""/>
          <p:cNvPicPr/>
          <p:nvPr/>
        </p:nvPicPr>
        <p:blipFill>
          <a:blip r:embed="rId2"/>
          <a:stretch/>
        </p:blipFill>
        <p:spPr>
          <a:xfrm>
            <a:off x="4367880" y="1121760"/>
            <a:ext cx="3456000" cy="192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37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467100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-360 h 2185560"/>
              <a:gd name="textAreaBottom" fmla="*/ 218556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1440" y="5151960"/>
            <a:ext cx="10929960" cy="673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 fontScale="85000" lnSpcReduction="9999"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rgbClr val="ffffff"/>
                </a:solidFill>
                <a:uFillTx/>
                <a:latin typeface="Century Gothic"/>
              </a:rPr>
              <a:t>Bucles anidados - ¿A qué velocidad cambian las variables?</a:t>
            </a:r>
            <a:endParaRPr b="0" lang="en-US" sz="3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397440" y="360000"/>
            <a:ext cx="96444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reeform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4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467100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-360 h 2185560"/>
              <a:gd name="textAreaBottom" fmla="*/ 2185560 h 2185560"/>
            </a:gdLst>
            <a:ah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1440" y="5151960"/>
            <a:ext cx="10929960" cy="67320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rgbClr val="ffffff"/>
                </a:solidFill>
                <a:uFillTx/>
                <a:latin typeface="Century Gothic"/>
              </a:rPr>
              <a:t>comentarios</a:t>
            </a:r>
            <a:endParaRPr b="0" lang="en-US" sz="32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44" name="Imagen 1"/>
          <p:cNvSpPr/>
          <p:nvPr/>
        </p:nvSpPr>
        <p:spPr>
          <a:xfrm>
            <a:off x="451440" y="447840"/>
            <a:ext cx="7288200" cy="4074480"/>
          </a:xfrm>
          <a:prstGeom prst="roundRect">
            <a:avLst>
              <a:gd name="adj" fmla="val 3876"/>
            </a:avLst>
          </a:prstGeom>
          <a:blipFill rotWithShape="0">
            <a:blip r:embed="rId2"/>
            <a:srcRect/>
            <a:stretch/>
          </a:blipFill>
          <a:ln w="0">
            <a:solidFill>
              <a:srgbClr val="00c6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10000" y="639000"/>
            <a:ext cx="4961160" cy="37807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5400" strike="noStrike" u="none">
                <a:solidFill>
                  <a:srgbClr val="fefefe"/>
                </a:solidFill>
                <a:uFillTx/>
                <a:latin typeface="Century Gothic"/>
              </a:rPr>
              <a:t>Comentarios javadoc</a:t>
            </a:r>
            <a:endParaRPr b="0" lang="en-US" sz="5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47" name="Imagen 2" descr=""/>
          <p:cNvPicPr/>
          <p:nvPr/>
        </p:nvPicPr>
        <p:blipFill>
          <a:blip r:embed="rId2"/>
          <a:srcRect l="0" t="5145" r="0" b="0"/>
          <a:stretch/>
        </p:blipFill>
        <p:spPr>
          <a:xfrm>
            <a:off x="6100920" y="0"/>
            <a:ext cx="6090840" cy="6857640"/>
          </a:xfrm>
          <a:prstGeom prst="rect">
            <a:avLst/>
          </a:prstGeom>
          <a:ln w="0">
            <a:noFill/>
          </a:ln>
        </p:spPr>
      </p:pic>
      <p:sp>
        <p:nvSpPr>
          <p:cNvPr id="148" name="CuadroTexto 3"/>
          <p:cNvSpPr/>
          <p:nvPr/>
        </p:nvSpPr>
        <p:spPr>
          <a:xfrm>
            <a:off x="153360" y="5406120"/>
            <a:ext cx="5916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GB" sz="1800" strike="noStrike" u="none">
                <a:solidFill>
                  <a:schemeClr val="lt1"/>
                </a:solidFill>
                <a:uFillTx/>
                <a:latin typeface="Century Gothic"/>
              </a:rPr>
              <a:t>Permiten generar documentación en formato HTML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Freeform: 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40040"/>
            <a:ext cx="12191760" cy="3117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117600"/>
              <a:gd name="textAreaBottom" fmla="*/ 3117960 h 3117600"/>
            </a:gdLst>
            <a:ahLst/>
            <a:rect l="textAreaLeft" t="textAreaTop" r="textAreaRight" b="textAreaBottom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10000" y="4080240"/>
            <a:ext cx="10571760" cy="13885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5400" strike="noStrike" u="none">
                <a:solidFill>
                  <a:srgbClr val="ffffff"/>
                </a:solidFill>
                <a:uFillTx/>
                <a:latin typeface="Century Gothic"/>
              </a:rPr>
              <a:t>Comentarios javadoc</a:t>
            </a:r>
            <a:endParaRPr b="0" lang="en-US" sz="54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52" name="CuadroTexto 3"/>
          <p:cNvSpPr/>
          <p:nvPr/>
        </p:nvSpPr>
        <p:spPr>
          <a:xfrm>
            <a:off x="1268280" y="5503680"/>
            <a:ext cx="9664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entury Gothic"/>
              </a:rPr>
              <a:t>Muchas etiquetas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Rounded 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0400" y="643320"/>
            <a:ext cx="7757280" cy="2817000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 cap="rnd">
            <a:solidFill>
              <a:srgbClr val="00c6bb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154" name="Imagen 4" descr=""/>
          <p:cNvPicPr/>
          <p:nvPr/>
        </p:nvPicPr>
        <p:blipFill>
          <a:blip r:embed="rId2"/>
          <a:stretch/>
        </p:blipFill>
        <p:spPr>
          <a:xfrm>
            <a:off x="2418480" y="706320"/>
            <a:ext cx="7286040" cy="269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57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54960" y="0"/>
            <a:ext cx="4636800" cy="6857640"/>
          </a:xfrm>
          <a:custGeom>
            <a:avLst/>
            <a:gdLst>
              <a:gd name="textAreaLeft" fmla="*/ 360 w 4636800"/>
              <a:gd name="textAreaRight" fmla="*/ 4637520 w 46368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2"/>
            <a:srcRect/>
            <a:tile tx="0" ty="0" sx="100032" sy="100032" algn="tl"/>
          </a:blipFill>
          <a:ln cap="rnd">
            <a:solidFill>
              <a:srgbClr val="00c6b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134200" y="1819440"/>
            <a:ext cx="3605760" cy="4221720"/>
          </a:xfrm>
          <a:prstGeom prst="rect">
            <a:avLst/>
          </a:prstGeom>
          <a:noFill/>
          <a:ln w="0">
            <a:noFill/>
          </a:ln>
          <a:effectLst>
            <a:outerShdw dist="0" dir="0" blurRad="50760" rotWithShape="0">
              <a:srgbClr val="000000">
                <a:alpha val="6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100" strike="noStrike" u="none">
                <a:solidFill>
                  <a:srgbClr val="fefefe"/>
                </a:solidFill>
                <a:uFillTx/>
                <a:latin typeface="Century Gothic"/>
              </a:rPr>
              <a:t>Comentarios javadoc</a:t>
            </a:r>
            <a:endParaRPr b="0" lang="en-US" sz="4100" strike="noStrike" u="non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159" name="CuadroTexto 3"/>
          <p:cNvSpPr/>
          <p:nvPr/>
        </p:nvSpPr>
        <p:spPr>
          <a:xfrm>
            <a:off x="8134200" y="457200"/>
            <a:ext cx="324720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entury Gothic"/>
              </a:rPr>
              <a:t>Permiten generar documentación en formato HTML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Imagen 4"/>
          <p:cNvSpPr/>
          <p:nvPr/>
        </p:nvSpPr>
        <p:spPr>
          <a:xfrm>
            <a:off x="770400" y="643320"/>
            <a:ext cx="6014160" cy="5397480"/>
          </a:xfrm>
          <a:prstGeom prst="roundRect">
            <a:avLst>
              <a:gd name="adj" fmla="val 3876"/>
            </a:avLst>
          </a:prstGeom>
          <a:blipFill rotWithShape="0">
            <a:blip r:embed="rId3"/>
            <a:srcRect/>
            <a:stretch/>
          </a:blipFill>
          <a:ln w="0">
            <a:solidFill>
              <a:srgbClr val="00c6b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i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84000"/>
                <a:shade val="90000"/>
                <a:lumMod val="90000"/>
              </a:schemeClr>
            </a:gs>
            <a:gs pos="100000">
              <a:schemeClr val="phClr"/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LibreOffice/24.8.2.1$Windows_X86_64 LibreOffice_project/0f794b6e29741098670a3b95d60478a65d05ef13</Application>
  <AppVersion>15.0000</AppVersion>
  <Words>57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2019-11-21T12:21:57Z</dcterms:created>
  <dc:creator>JORGE JUAN MUÑOZ MORERA</dc:creator>
  <dc:description/>
  <dc:language>es-ES</dc:language>
  <cp:lastModifiedBy/>
  <dcterms:modified xsi:type="dcterms:W3CDTF">2024-11-05T19:57:15Z</dcterms:modified>
  <cp:revision>14</cp:revision>
  <dc:subject/>
  <dc:title>Java: estructuras de decision y comentarios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12</vt:i4>
  </property>
</Properties>
</file>